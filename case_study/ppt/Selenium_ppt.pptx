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Geist" panose="020B0604020202020204" charset="0"/>
      <p:regular r:id="rId17"/>
    </p:embeddedFont>
    <p:embeddedFont>
      <p:font typeface="Geist Bold" panose="020B0604020202020204" charset="0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44CEDA-F29D-49F4-B9E9-945640EAD57F}" v="31" dt="2026-08-13T07:42:41.4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itik Tiwari" userId="27aee1948a87ba46" providerId="Windows Live" clId="Web-{4144CEDA-F29D-49F4-B9E9-945640EAD57F}"/>
    <pc:docChg chg="modSld">
      <pc:chgData name="Naitik Tiwari" userId="27aee1948a87ba46" providerId="Windows Live" clId="Web-{4144CEDA-F29D-49F4-B9E9-945640EAD57F}" dt="2026-08-13T07:42:41.404" v="30" actId="1076"/>
      <pc:docMkLst>
        <pc:docMk/>
      </pc:docMkLst>
      <pc:sldChg chg="addSp delSp modSp">
        <pc:chgData name="Naitik Tiwari" userId="27aee1948a87ba46" providerId="Windows Live" clId="Web-{4144CEDA-F29D-49F4-B9E9-945640EAD57F}" dt="2026-08-13T07:38:54.350" v="5" actId="1076"/>
        <pc:sldMkLst>
          <pc:docMk/>
          <pc:sldMk cId="0" sldId="263"/>
        </pc:sldMkLst>
        <pc:picChg chg="del">
          <ac:chgData name="Naitik Tiwari" userId="27aee1948a87ba46" providerId="Windows Live" clId="Web-{4144CEDA-F29D-49F4-B9E9-945640EAD57F}" dt="2026-08-13T07:38:16.536" v="0"/>
          <ac:picMkLst>
            <pc:docMk/>
            <pc:sldMk cId="0" sldId="263"/>
            <ac:picMk id="2" creationId="{00000000-0000-0000-0000-000000000000}"/>
          </ac:picMkLst>
        </pc:picChg>
        <pc:picChg chg="add mod">
          <ac:chgData name="Naitik Tiwari" userId="27aee1948a87ba46" providerId="Windows Live" clId="Web-{4144CEDA-F29D-49F4-B9E9-945640EAD57F}" dt="2026-08-13T07:38:54.350" v="5" actId="1076"/>
          <ac:picMkLst>
            <pc:docMk/>
            <pc:sldMk cId="0" sldId="263"/>
            <ac:picMk id="26" creationId="{875072E3-5658-3F52-27C7-460A8E1DAD8F}"/>
          </ac:picMkLst>
        </pc:picChg>
      </pc:sldChg>
      <pc:sldChg chg="modSp">
        <pc:chgData name="Naitik Tiwari" userId="27aee1948a87ba46" providerId="Windows Live" clId="Web-{4144CEDA-F29D-49F4-B9E9-945640EAD57F}" dt="2026-08-13T07:42:41.404" v="30" actId="1076"/>
        <pc:sldMkLst>
          <pc:docMk/>
          <pc:sldMk cId="0" sldId="264"/>
        </pc:sldMkLst>
        <pc:spChg chg="mod">
          <ac:chgData name="Naitik Tiwari" userId="27aee1948a87ba46" providerId="Windows Live" clId="Web-{4144CEDA-F29D-49F4-B9E9-945640EAD57F}" dt="2026-08-13T07:42:41.404" v="30" actId="1076"/>
          <ac:spMkLst>
            <pc:docMk/>
            <pc:sldMk cId="0" sldId="264"/>
            <ac:spMk id="2" creationId="{00000000-0000-0000-0000-000000000000}"/>
          </ac:spMkLst>
        </pc:spChg>
        <pc:spChg chg="mod">
          <ac:chgData name="Naitik Tiwari" userId="27aee1948a87ba46" providerId="Windows Live" clId="Web-{4144CEDA-F29D-49F4-B9E9-945640EAD57F}" dt="2026-08-13T07:42:35.997" v="29" actId="1076"/>
          <ac:spMkLst>
            <pc:docMk/>
            <pc:sldMk cId="0" sldId="264"/>
            <ac:spMk id="3" creationId="{00000000-0000-0000-0000-000000000000}"/>
          </ac:spMkLst>
        </pc:spChg>
        <pc:spChg chg="mod">
          <ac:chgData name="Naitik Tiwari" userId="27aee1948a87ba46" providerId="Windows Live" clId="Web-{4144CEDA-F29D-49F4-B9E9-945640EAD57F}" dt="2026-08-13T07:40:21.618" v="17" actId="1076"/>
          <ac:spMkLst>
            <pc:docMk/>
            <pc:sldMk cId="0" sldId="264"/>
            <ac:spMk id="4" creationId="{00000000-0000-0000-0000-000000000000}"/>
          </ac:spMkLst>
        </pc:spChg>
        <pc:spChg chg="mod">
          <ac:chgData name="Naitik Tiwari" userId="27aee1948a87ba46" providerId="Windows Live" clId="Web-{4144CEDA-F29D-49F4-B9E9-945640EAD57F}" dt="2026-08-13T07:40:21.665" v="18" actId="1076"/>
          <ac:spMkLst>
            <pc:docMk/>
            <pc:sldMk cId="0" sldId="264"/>
            <ac:spMk id="5" creationId="{00000000-0000-0000-0000-000000000000}"/>
          </ac:spMkLst>
        </pc:spChg>
        <pc:spChg chg="mod">
          <ac:chgData name="Naitik Tiwari" userId="27aee1948a87ba46" providerId="Windows Live" clId="Web-{4144CEDA-F29D-49F4-B9E9-945640EAD57F}" dt="2026-08-13T07:40:11.727" v="15" actId="1076"/>
          <ac:spMkLst>
            <pc:docMk/>
            <pc:sldMk cId="0" sldId="264"/>
            <ac:spMk id="6" creationId="{00000000-0000-0000-0000-000000000000}"/>
          </ac:spMkLst>
        </pc:spChg>
        <pc:spChg chg="mod">
          <ac:chgData name="Naitik Tiwari" userId="27aee1948a87ba46" providerId="Windows Live" clId="Web-{4144CEDA-F29D-49F4-B9E9-945640EAD57F}" dt="2026-08-13T07:40:11.759" v="16" actId="1076"/>
          <ac:spMkLst>
            <pc:docMk/>
            <pc:sldMk cId="0" sldId="264"/>
            <ac:spMk id="7" creationId="{00000000-0000-0000-0000-000000000000}"/>
          </ac:spMkLst>
        </pc:spChg>
        <pc:spChg chg="mod">
          <ac:chgData name="Naitik Tiwari" userId="27aee1948a87ba46" providerId="Windows Live" clId="Web-{4144CEDA-F29D-49F4-B9E9-945640EAD57F}" dt="2026-08-13T07:39:29.398" v="6" actId="1076"/>
          <ac:spMkLst>
            <pc:docMk/>
            <pc:sldMk cId="0" sldId="264"/>
            <ac:spMk id="8" creationId="{00000000-0000-0000-0000-000000000000}"/>
          </ac:spMkLst>
        </pc:spChg>
        <pc:spChg chg="mod">
          <ac:chgData name="Naitik Tiwari" userId="27aee1948a87ba46" providerId="Windows Live" clId="Web-{4144CEDA-F29D-49F4-B9E9-945640EAD57F}" dt="2026-08-13T07:39:29.492" v="8" actId="1076"/>
          <ac:spMkLst>
            <pc:docMk/>
            <pc:sldMk cId="0" sldId="264"/>
            <ac:spMk id="10" creationId="{00000000-0000-0000-0000-000000000000}"/>
          </ac:spMkLst>
        </pc:spChg>
        <pc:picChg chg="mod">
          <ac:chgData name="Naitik Tiwari" userId="27aee1948a87ba46" providerId="Windows Live" clId="Web-{4144CEDA-F29D-49F4-B9E9-945640EAD57F}" dt="2026-08-13T07:39:29.445" v="7" actId="1076"/>
          <ac:picMkLst>
            <pc:docMk/>
            <pc:sldMk cId="0" sldId="264"/>
            <ac:picMk id="9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6AD361-078D-4076-AF70-C4328B3597F0}" type="datetimeFigureOut">
              <a:t>8/13/2026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64DC4A-A8C2-4B40-8EFD-29A3A96009A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990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svg"/><Relationship Id="rId5" Type="http://schemas.openxmlformats.org/officeDocument/2006/relationships/image" Target="../media/image24.svg"/><Relationship Id="rId4" Type="http://schemas.openxmlformats.org/officeDocument/2006/relationships/image" Target="../media/image2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2177455"/>
            <a:ext cx="6296860" cy="1228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700" b="1" kern="0" spc="-7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Selenium Web Automation &amp; Testing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689449"/>
            <a:ext cx="6296860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From browser control fundamentals to CI/CD integration — a complete teaching guide for B.Tech CSE students and DevOps practitioners.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5233360" y="4393406"/>
            <a:ext cx="2935115" cy="287139"/>
          </a:xfrm>
          <a:prstGeom prst="roundRect">
            <a:avLst>
              <a:gd name="adj" fmla="val 22118"/>
            </a:avLst>
          </a:prstGeom>
          <a:solidFill>
            <a:srgbClr val="00194D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6765" y="4461371"/>
            <a:ext cx="151206" cy="15120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573573" y="4450060"/>
            <a:ext cx="3091083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B.TECH CSE · DEVOPS CASE STUDY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4774"/>
            <a:ext cx="10868745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b="1" kern="0" spc="-3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Why It Matters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661475" y="868759"/>
            <a:ext cx="10868745" cy="491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950" b="1" kern="0" spc="-6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The Case for Browser Automation</a:t>
            </a:r>
            <a:endParaRPr lang="en-US" sz="2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997" y="1677591"/>
            <a:ext cx="5548372" cy="314414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72226" y="2984302"/>
            <a:ext cx="3564245" cy="5307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Modern web applications are complex, dynamic, and release rapidly. Manual UI testing cannot keep pace with continuous delivery pipelines.</a:t>
            </a:r>
            <a:endParaRPr lang="en-US" sz="11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5093791"/>
            <a:ext cx="3542219" cy="118943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07928" y="5264051"/>
            <a:ext cx="3125511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b="1" kern="0" spc="-3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Speed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907928" y="5582245"/>
            <a:ext cx="3125511" cy="353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Automated suites run in minutes what testers take hours to verify manually.</a:t>
            </a:r>
            <a:endParaRPr lang="en-US" sz="11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24639" y="5093791"/>
            <a:ext cx="3542318" cy="118943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1092" y="5264051"/>
            <a:ext cx="3125610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b="1" kern="0" spc="-3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Repeatability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4571092" y="5582245"/>
            <a:ext cx="3125610" cy="353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Identical test execution every run — no human error, no fatigue.</a:t>
            </a:r>
            <a:endParaRPr lang="en-US" sz="11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87902" y="5093791"/>
            <a:ext cx="3542318" cy="118943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234355" y="5264051"/>
            <a:ext cx="3125610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b="1" kern="0" spc="-3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CI/CD Integration</a:t>
            </a:r>
            <a:endParaRPr lang="en-US" sz="1450" dirty="0"/>
          </a:p>
        </p:txBody>
      </p:sp>
      <p:sp>
        <p:nvSpPr>
          <p:cNvPr id="14" name="Text 8"/>
          <p:cNvSpPr/>
          <p:nvPr/>
        </p:nvSpPr>
        <p:spPr>
          <a:xfrm>
            <a:off x="8234355" y="5582245"/>
            <a:ext cx="3125610" cy="5307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Automated browser tests become quality gates in build pipelines, blocking regressions before they reach production.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40668"/>
            <a:ext cx="10868745" cy="2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50" b="1" kern="0" spc="-33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Ecosystem Overview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661475" y="1078210"/>
            <a:ext cx="10868745" cy="5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300" b="1" kern="0" spc="-67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What is Selenium?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61475" y="1860748"/>
            <a:ext cx="11478330" cy="210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Selenium is an </a:t>
            </a: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umbrella project</a:t>
            </a: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for tools and libraries that automate web browsers. It is not a single tool — it is a suite.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243138"/>
            <a:ext cx="425241" cy="4252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1475" y="2859683"/>
            <a:ext cx="5338728" cy="2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50" b="1" kern="0" spc="-33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WebDriver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661475" y="3227784"/>
            <a:ext cx="5338728" cy="420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core API. Drives browsers natively via the </a:t>
            </a: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W3C WebDriver standard</a:t>
            </a: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locally or remotely. This is what your test code calls.</a:t>
            </a:r>
            <a:endParaRPr lang="en-US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1492" y="2243138"/>
            <a:ext cx="425241" cy="42525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191492" y="2859683"/>
            <a:ext cx="5338728" cy="2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50" b="1" kern="0" spc="-33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Selenium IDE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6191492" y="3227784"/>
            <a:ext cx="5338728" cy="420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browser extension for recording and playing back user actions. Great for quick prototyping and generating boilerplate scripts.</a:t>
            </a:r>
            <a:endParaRPr lang="en-US" sz="13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954264"/>
            <a:ext cx="425241" cy="42525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61475" y="4570809"/>
            <a:ext cx="5338728" cy="2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50" b="1" kern="0" spc="-33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Selenium Grid</a:t>
            </a:r>
            <a:endParaRPr lang="en-US" sz="1650" dirty="0"/>
          </a:p>
        </p:txBody>
      </p:sp>
      <p:sp>
        <p:nvSpPr>
          <p:cNvPr id="13" name="Text 8"/>
          <p:cNvSpPr/>
          <p:nvPr/>
        </p:nvSpPr>
        <p:spPr>
          <a:xfrm>
            <a:off x="661475" y="4938911"/>
            <a:ext cx="5338728" cy="420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Enables </a:t>
            </a: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distributed and parallel</a:t>
            </a: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test execution across multiple browsers, operating systems, and remote machines.</a:t>
            </a:r>
            <a:endParaRPr lang="en-US" sz="13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91492" y="3954264"/>
            <a:ext cx="425241" cy="42525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191492" y="4570809"/>
            <a:ext cx="5338728" cy="2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50" b="1" kern="0" spc="-33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Selenium Manager</a:t>
            </a:r>
            <a:endParaRPr lang="en-US" sz="1650" dirty="0"/>
          </a:p>
        </p:txBody>
      </p:sp>
      <p:sp>
        <p:nvSpPr>
          <p:cNvPr id="16" name="Text 10"/>
          <p:cNvSpPr/>
          <p:nvPr/>
        </p:nvSpPr>
        <p:spPr>
          <a:xfrm>
            <a:off x="6191492" y="4938911"/>
            <a:ext cx="5338728" cy="420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official driver/browser manager shipped with Selenium releases. Automatically resolves browser drivers — no manual setup required.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661475" y="5531445"/>
            <a:ext cx="10868745" cy="585887"/>
          </a:xfrm>
          <a:prstGeom prst="roundRect">
            <a:avLst>
              <a:gd name="adj" fmla="val 12195"/>
            </a:avLst>
          </a:prstGeom>
          <a:solidFill>
            <a:srgbClr val="002A80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532" y="5730577"/>
            <a:ext cx="212620" cy="170061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214209" y="5727005"/>
            <a:ext cx="10755540" cy="210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Selenium is </a:t>
            </a:r>
            <a:r>
              <a:rPr lang="en-US" sz="1300" b="1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not</a:t>
            </a:r>
            <a:r>
              <a:rPr lang="en-US" sz="13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a test framework, CI server, or load-testing tool. It is a browser automation library.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1139"/>
            <a:ext cx="10868745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0" spc="-28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Architecture Deep Dive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661475" y="813891"/>
            <a:ext cx="10868745" cy="460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750" b="1" kern="0" spc="-56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How WebDriver Works</a:t>
            </a:r>
            <a:endParaRPr lang="en-US" sz="2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3678" y="1434009"/>
            <a:ext cx="8084340" cy="348624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97661" y="4254549"/>
            <a:ext cx="1834069" cy="238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kern="0" spc="-29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Real Browser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597661" y="3447539"/>
            <a:ext cx="1834069" cy="238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kern="0" spc="-29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Browser Driver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597661" y="2648680"/>
            <a:ext cx="1834069" cy="238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kern="0" spc="-29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WebDriver API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597661" y="1841670"/>
            <a:ext cx="1834069" cy="238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kern="0" spc="-29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Test Code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61475" y="5146080"/>
            <a:ext cx="5261439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0" spc="-28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W3C WebDriver Protocol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61475" y="5482630"/>
            <a:ext cx="5261439" cy="483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WebDriver communicates over HTTP using a standardised W3C REST-like protocol. Every action — click, find element, navigate — is an HTTP request to the browser driver process.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275131" y="5146080"/>
            <a:ext cx="5261439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0" spc="-28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Selenium Manager &amp; Drivers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275131" y="5482630"/>
            <a:ext cx="5261439" cy="490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When a browser driver is not found on the system </a:t>
            </a:r>
            <a:r>
              <a:rPr lang="en-US" sz="110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PATH</a:t>
            </a: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Selenium Manager automatically downloads and caches the correct driver version. Newer versions can also manage browsers themselves.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61475" y="6187877"/>
            <a:ext cx="11478330" cy="128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Source: Selenium official documentation — selenium.dev/documentation/webdriver/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00" b="1" kern="0" spc="-2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First Script · Locators · DOM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61475" y="706934"/>
            <a:ext cx="10868745" cy="330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kern="0" spc="-4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Finding &amp; Interacting with Elements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61475" y="1447304"/>
            <a:ext cx="7587366" cy="101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8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Every Selenium test follows the same workflow:</a:t>
            </a:r>
            <a:endParaRPr lang="en-US" sz="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7587" y="1610519"/>
            <a:ext cx="3385457" cy="200927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813900" y="3150492"/>
            <a:ext cx="841526" cy="168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000" b="1" kern="0" spc="-2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Verify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753346" y="3150492"/>
            <a:ext cx="841526" cy="168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000" b="1" kern="0" spc="-2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Interact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675501" y="3150492"/>
            <a:ext cx="841526" cy="168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000" b="1" kern="0" spc="-2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Locate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893845" y="1174552"/>
            <a:ext cx="3642626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00" b="1" kern="0" spc="-2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Locator Strategies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893845" y="1401465"/>
            <a:ext cx="3642626" cy="550466"/>
          </a:xfrm>
          <a:prstGeom prst="roundRect">
            <a:avLst>
              <a:gd name="adj" fmla="val 7763"/>
            </a:avLst>
          </a:prstGeom>
          <a:solidFill>
            <a:srgbClr val="101620"/>
          </a:solidFill>
          <a:ln w="12700">
            <a:solidFill>
              <a:srgbClr val="002A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8008241" y="1515864"/>
            <a:ext cx="3413833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00" b="1" kern="0" spc="-2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ID / NAME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008241" y="1735931"/>
            <a:ext cx="3413833" cy="101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8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Fastest, most reliable when available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7893845" y="2006699"/>
            <a:ext cx="3642626" cy="550466"/>
          </a:xfrm>
          <a:prstGeom prst="roundRect">
            <a:avLst>
              <a:gd name="adj" fmla="val 7763"/>
            </a:avLst>
          </a:prstGeom>
          <a:solidFill>
            <a:srgbClr val="101620"/>
          </a:solidFill>
          <a:ln w="12700">
            <a:solidFill>
              <a:srgbClr val="002A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8008241" y="2121098"/>
            <a:ext cx="3413833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00" b="1" kern="0" spc="-2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CSS Selector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008241" y="2341166"/>
            <a:ext cx="3413833" cy="101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8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Powerful and widely supported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7893845" y="2611934"/>
            <a:ext cx="3642626" cy="550466"/>
          </a:xfrm>
          <a:prstGeom prst="roundRect">
            <a:avLst>
              <a:gd name="adj" fmla="val 7763"/>
            </a:avLst>
          </a:prstGeom>
          <a:solidFill>
            <a:srgbClr val="101620"/>
          </a:solidFill>
          <a:ln w="12700">
            <a:solidFill>
              <a:srgbClr val="002A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8008241" y="2726333"/>
            <a:ext cx="3413833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00" b="1" kern="0" spc="-2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XPath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008241" y="2946400"/>
            <a:ext cx="3413833" cy="101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8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Flexible; can traverse DOM tree axes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7893845" y="3217168"/>
            <a:ext cx="3642626" cy="550466"/>
          </a:xfrm>
          <a:prstGeom prst="roundRect">
            <a:avLst>
              <a:gd name="adj" fmla="val 7763"/>
            </a:avLst>
          </a:prstGeom>
          <a:solidFill>
            <a:srgbClr val="101620"/>
          </a:solidFill>
          <a:ln w="12700">
            <a:solidFill>
              <a:srgbClr val="002A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8008241" y="3331567"/>
            <a:ext cx="3413833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00" b="1" kern="0" spc="-2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Link Text / Partial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008241" y="3551634"/>
            <a:ext cx="3413833" cy="101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8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Targets anchor tags by visible text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7893845" y="3829248"/>
            <a:ext cx="4252211" cy="81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6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find_element()</a:t>
            </a:r>
            <a:r>
              <a:rPr lang="en-US" sz="6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→ first match · </a:t>
            </a:r>
            <a:r>
              <a:rPr lang="en-US" sz="6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find_elements()</a:t>
            </a:r>
            <a:r>
              <a:rPr lang="en-US" sz="6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→ all matches (list)</a:t>
            </a:r>
            <a:endParaRPr lang="en-US" sz="600" dirty="0"/>
          </a:p>
        </p:txBody>
      </p:sp>
      <p:sp>
        <p:nvSpPr>
          <p:cNvPr id="23" name="Shape 20"/>
          <p:cNvSpPr/>
          <p:nvPr/>
        </p:nvSpPr>
        <p:spPr>
          <a:xfrm>
            <a:off x="661475" y="4021336"/>
            <a:ext cx="10868745" cy="2318742"/>
          </a:xfrm>
          <a:prstGeom prst="roundRect">
            <a:avLst>
              <a:gd name="adj" fmla="val 1843"/>
            </a:avLst>
          </a:prstGeom>
          <a:solidFill>
            <a:srgbClr val="1D232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1"/>
          <p:cNvSpPr/>
          <p:nvPr/>
        </p:nvSpPr>
        <p:spPr>
          <a:xfrm>
            <a:off x="783511" y="4123035"/>
            <a:ext cx="10624673" cy="2115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selenium import webdriver</a:t>
            </a:r>
            <a:endParaRPr lang="en-US" sz="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selenium.webdriver.common.by import By</a:t>
            </a:r>
            <a:endParaRPr lang="en-US" sz="800" dirty="0"/>
          </a:p>
          <a:p>
            <a:pPr marL="0" indent="0" algn="l">
              <a:lnSpc>
                <a:spcPct val="133000"/>
              </a:lnSpc>
              <a:buNone/>
            </a:pPr>
            <a:endParaRPr lang="en-US" sz="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 = webdriver.Chrome()</a:t>
            </a:r>
            <a:endParaRPr lang="en-US" sz="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driver.get("https://example.com")</a:t>
            </a:r>
            <a:endParaRPr lang="en-US" sz="800" dirty="0"/>
          </a:p>
          <a:p>
            <a:pPr marL="0" indent="0" algn="l">
              <a:lnSpc>
                <a:spcPct val="133000"/>
              </a:lnSpc>
              <a:buNone/>
            </a:pPr>
            <a:endParaRPr lang="en-US" sz="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Locate → Interact → Verify</a:t>
            </a:r>
            <a:endParaRPr lang="en-US" sz="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search_box = driver.find_element(By.ID, "search")</a:t>
            </a:r>
            <a:endParaRPr lang="en-US" sz="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search_box.send_keys("Selenium")</a:t>
            </a:r>
            <a:endParaRPr lang="en-US" sz="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search_box.clear()</a:t>
            </a:r>
            <a:endParaRPr lang="en-US" sz="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print(search_box.get_attribute("placeholder"))</a:t>
            </a:r>
            <a:endParaRPr lang="en-US" sz="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print(search_box.is_displayed())   # True / False</a:t>
            </a:r>
            <a:endParaRPr lang="en-US" sz="8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driver.quit()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523577"/>
            <a:ext cx="6296860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0" spc="-28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Synchronisation &amp; Waits</a:t>
            </a:r>
            <a:endParaRPr lang="en-US" sz="1350" dirty="0"/>
          </a:p>
        </p:txBody>
      </p:sp>
      <p:sp>
        <p:nvSpPr>
          <p:cNvPr id="4" name="Text 1"/>
          <p:cNvSpPr/>
          <p:nvPr/>
        </p:nvSpPr>
        <p:spPr>
          <a:xfrm>
            <a:off x="661475" y="796330"/>
            <a:ext cx="6296860" cy="460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750" b="1" kern="0" spc="-56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Why Timing is Everything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661475" y="1416447"/>
            <a:ext cx="6296860" cy="3224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Modern JavaScript modifies the DOM </a:t>
            </a:r>
            <a:r>
              <a:rPr lang="en-US" sz="1100" i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after</a:t>
            </a: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initial page load. Tests that run too fast will fail on elements that do not yet exist.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1858466"/>
            <a:ext cx="708801" cy="90616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76536" y="2000151"/>
            <a:ext cx="5481798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0" spc="-28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Implicit Wait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1476536" y="2294136"/>
            <a:ext cx="5481798" cy="328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Global timeout; WebDriver polls the DOM for the set duration before raising </a:t>
            </a:r>
            <a:r>
              <a:rPr lang="en-US" sz="110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NoSuchElementException</a:t>
            </a: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 Simple but inflexible.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2764631"/>
            <a:ext cx="708801" cy="89981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76536" y="2906316"/>
            <a:ext cx="5481798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0" spc="-28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Explicit Wait + Expected Conditions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1476536" y="3200301"/>
            <a:ext cx="5481798" cy="3224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Waits for a </a:t>
            </a:r>
            <a:r>
              <a:rPr lang="en-US" sz="11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specific condition</a:t>
            </a: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on a specific element. Preferred approach — precise and readable.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475" y="3664446"/>
            <a:ext cx="708801" cy="90616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476536" y="3806130"/>
            <a:ext cx="5481798" cy="236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b="1" kern="0" spc="-28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Avoid </a:t>
            </a:r>
            <a:r>
              <a:rPr lang="en-US" sz="1350" b="1" kern="0" spc="-28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time.sleep()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1476536" y="4106466"/>
            <a:ext cx="5481798" cy="3224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Fixed sleeps are </a:t>
            </a:r>
            <a:r>
              <a:rPr lang="en-US" sz="11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brittle</a:t>
            </a: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: too short → flaky failures; too long → slow suites. Never use in production test code.</a:t>
            </a:r>
            <a:endParaRPr lang="en-US" sz="1100" dirty="0"/>
          </a:p>
        </p:txBody>
      </p:sp>
      <p:sp>
        <p:nvSpPr>
          <p:cNvPr id="15" name="Shape 9"/>
          <p:cNvSpPr/>
          <p:nvPr/>
        </p:nvSpPr>
        <p:spPr>
          <a:xfrm>
            <a:off x="661475" y="4690170"/>
            <a:ext cx="6296860" cy="1644253"/>
          </a:xfrm>
          <a:prstGeom prst="roundRect">
            <a:avLst>
              <a:gd name="adj" fmla="val 3621"/>
            </a:avLst>
          </a:prstGeom>
          <a:solidFill>
            <a:srgbClr val="1D232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0"/>
          <p:cNvSpPr/>
          <p:nvPr/>
        </p:nvSpPr>
        <p:spPr>
          <a:xfrm>
            <a:off x="831532" y="4831854"/>
            <a:ext cx="5956746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selenium.webdriver.support.ui import WebDriverWait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selenium.webdriver.support import expected_conditions as EC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wait = WebDriverWait(driver, timeout=10)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 = wait.until(EC.element_to_be_clickable((By.ID, "submit")))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btn.click()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79078"/>
            <a:ext cx="10868745" cy="261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50" b="1" kern="0" spc="-32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Browser Contexts &amp; Advanced Interactions</a:t>
            </a:r>
            <a:endParaRPr lang="en-US" sz="1550" dirty="0"/>
          </a:p>
        </p:txBody>
      </p:sp>
      <p:sp>
        <p:nvSpPr>
          <p:cNvPr id="3" name="Text 1"/>
          <p:cNvSpPr/>
          <p:nvPr/>
        </p:nvSpPr>
        <p:spPr>
          <a:xfrm>
            <a:off x="661475" y="1194693"/>
            <a:ext cx="10868745" cy="522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150" b="1" kern="0" spc="-63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Alerts, iFrames, Windows &amp; More</a:t>
            </a:r>
            <a:endParaRPr lang="en-US" sz="31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075160"/>
            <a:ext cx="2550949" cy="1806773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16451" y="2205137"/>
            <a:ext cx="240996" cy="24100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41156" y="2712740"/>
            <a:ext cx="2191588" cy="261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50" b="1" kern="0" spc="-32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Alerts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841156" y="3110309"/>
            <a:ext cx="2191588" cy="585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driver.switch_to.alert</a:t>
            </a: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accept, dismiss, or read alert text.</a:t>
            </a:r>
            <a:endParaRPr lang="en-US" sz="12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48946" y="2075160"/>
            <a:ext cx="2550949" cy="1806773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03922" y="2205137"/>
            <a:ext cx="240996" cy="241002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3528627" y="2712740"/>
            <a:ext cx="2191588" cy="261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50" b="1" kern="0" spc="-32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iFrames</a:t>
            </a:r>
            <a:endParaRPr lang="en-US" sz="1550" dirty="0"/>
          </a:p>
        </p:txBody>
      </p:sp>
      <p:sp>
        <p:nvSpPr>
          <p:cNvPr id="11" name="Text 5"/>
          <p:cNvSpPr/>
          <p:nvPr/>
        </p:nvSpPr>
        <p:spPr>
          <a:xfrm>
            <a:off x="3528627" y="3110309"/>
            <a:ext cx="2191588" cy="5919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switch_to.frame()</a:t>
            </a: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to enter; </a:t>
            </a:r>
            <a:r>
              <a:rPr lang="en-US" sz="125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switch_to.default_content()</a:t>
            </a: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to exit.</a:t>
            </a:r>
            <a:endParaRPr lang="en-US" sz="12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018459"/>
            <a:ext cx="2550949" cy="1806773"/>
          </a:xfrm>
          <a:prstGeom prst="rect">
            <a:avLst/>
          </a:prstGeom>
        </p:spPr>
      </p:pic>
      <p:pic>
        <p:nvPicPr>
          <p:cNvPr id="1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16451" y="4148435"/>
            <a:ext cx="240996" cy="241002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841156" y="4656038"/>
            <a:ext cx="2191588" cy="261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50" b="1" kern="0" spc="-32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Windows / Tabs</a:t>
            </a:r>
            <a:endParaRPr lang="en-US" sz="1550" dirty="0"/>
          </a:p>
        </p:txBody>
      </p:sp>
      <p:sp>
        <p:nvSpPr>
          <p:cNvPr id="15" name="Text 7"/>
          <p:cNvSpPr/>
          <p:nvPr/>
        </p:nvSpPr>
        <p:spPr>
          <a:xfrm>
            <a:off x="841156" y="5053608"/>
            <a:ext cx="2191588" cy="5919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Use </a:t>
            </a:r>
            <a:r>
              <a:rPr lang="en-US" sz="125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driver.window_handles</a:t>
            </a: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list and </a:t>
            </a:r>
            <a:r>
              <a:rPr lang="en-US" sz="125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switch_to.window(handle)</a:t>
            </a: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</a:t>
            </a:r>
            <a:endParaRPr lang="en-US" sz="125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48946" y="4018459"/>
            <a:ext cx="2550949" cy="1806773"/>
          </a:xfrm>
          <a:prstGeom prst="rect">
            <a:avLst/>
          </a:prstGeom>
        </p:spPr>
      </p:pic>
      <p:pic>
        <p:nvPicPr>
          <p:cNvPr id="17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03922" y="4148435"/>
            <a:ext cx="240996" cy="241002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3528627" y="4656038"/>
            <a:ext cx="2191588" cy="261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50" b="1" kern="0" spc="-32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Actions API</a:t>
            </a:r>
            <a:endParaRPr lang="en-US" sz="1550" dirty="0"/>
          </a:p>
        </p:txBody>
      </p:sp>
      <p:sp>
        <p:nvSpPr>
          <p:cNvPr id="19" name="Text 9"/>
          <p:cNvSpPr/>
          <p:nvPr/>
        </p:nvSpPr>
        <p:spPr>
          <a:xfrm>
            <a:off x="3528627" y="5053608"/>
            <a:ext cx="2191588" cy="579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Complex gestures: hover, drag-and-drop, right-click, key chords.</a:t>
            </a:r>
            <a:endParaRPr lang="en-US" sz="1250" dirty="0"/>
          </a:p>
        </p:txBody>
      </p:sp>
      <p:sp>
        <p:nvSpPr>
          <p:cNvPr id="20" name="Text 10"/>
          <p:cNvSpPr/>
          <p:nvPr/>
        </p:nvSpPr>
        <p:spPr>
          <a:xfrm>
            <a:off x="6298149" y="2058095"/>
            <a:ext cx="5238421" cy="261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50" b="1" kern="0" spc="-32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Additional Advanced Capabilities</a:t>
            </a:r>
            <a:endParaRPr lang="en-US" sz="1550" dirty="0"/>
          </a:p>
        </p:txBody>
      </p:sp>
      <p:sp>
        <p:nvSpPr>
          <p:cNvPr id="21" name="Text 11"/>
          <p:cNvSpPr/>
          <p:nvPr/>
        </p:nvSpPr>
        <p:spPr>
          <a:xfrm>
            <a:off x="6298149" y="2455664"/>
            <a:ext cx="5238421" cy="2147094"/>
          </a:xfrm>
          <a:prstGeom prst="rect">
            <a:avLst/>
          </a:prstGeom>
          <a:noFill/>
          <a:ln/>
        </p:spPr>
        <p:txBody>
          <a:bodyPr wrap="square" lIns="0" tIns="64266" rIns="0" bIns="0" rtlCol="0" anchor="t">
            <a:normAutofit/>
          </a:bodyPr>
          <a:lstStyle/>
          <a:p>
            <a:pPr marL="254000" indent="-254000" algn="l">
              <a:lnSpc>
                <a:spcPct val="100000"/>
              </a:lnSpc>
              <a:buSzPct val="100000"/>
              <a:buChar char="•"/>
            </a:pPr>
            <a:r>
              <a:rPr lang="en-US" sz="12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Select API</a:t>
            </a: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Interact with standard HTML </a:t>
            </a:r>
            <a:r>
              <a:rPr lang="en-US" sz="125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&lt;select&gt;</a:t>
            </a: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dropdowns by value, index, or visible text.</a:t>
            </a:r>
            <a:endParaRPr lang="en-US" sz="1250" dirty="0"/>
          </a:p>
          <a:p>
            <a:pPr marL="254000" indent="-254000" algn="l">
              <a:lnSpc>
                <a:spcPct val="100000"/>
              </a:lnSpc>
              <a:buSzPct val="100000"/>
              <a:buChar char="•"/>
            </a:pPr>
            <a:r>
              <a:rPr lang="en-US" sz="12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Screenshots</a:t>
            </a: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</a:t>
            </a:r>
            <a:r>
              <a:rPr lang="en-US" sz="125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driver.save_screenshot()</a:t>
            </a: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for visual evidence on failure.</a:t>
            </a:r>
            <a:endParaRPr lang="en-US" sz="1250" dirty="0"/>
          </a:p>
          <a:p>
            <a:pPr marL="254000" indent="-254000" algn="l">
              <a:lnSpc>
                <a:spcPct val="100000"/>
              </a:lnSpc>
              <a:buSzPct val="100000"/>
              <a:buChar char="•"/>
            </a:pPr>
            <a:r>
              <a:rPr lang="en-US" sz="12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Cookies</a:t>
            </a: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Add, delete, and read browser cookies programmatically.</a:t>
            </a:r>
            <a:endParaRPr lang="en-US" sz="1250" dirty="0"/>
          </a:p>
          <a:p>
            <a:pPr marL="254000" indent="-254000" algn="l">
              <a:lnSpc>
                <a:spcPct val="100000"/>
              </a:lnSpc>
              <a:buSzPct val="100000"/>
              <a:buChar char="•"/>
            </a:pPr>
            <a:r>
              <a:rPr lang="en-US" sz="12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JavaScript Execution</a:t>
            </a: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</a:t>
            </a:r>
            <a:r>
              <a:rPr lang="en-US" sz="125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driver.execute_script()</a:t>
            </a: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for scrolling, visibility hacks, or JS-only interactions.</a:t>
            </a:r>
            <a:endParaRPr lang="en-US" sz="1250" dirty="0"/>
          </a:p>
          <a:p>
            <a:pPr marL="254000" indent="-254000" algn="l">
              <a:lnSpc>
                <a:spcPct val="100000"/>
              </a:lnSpc>
              <a:buSzPct val="100000"/>
              <a:buChar char="•"/>
            </a:pPr>
            <a:r>
              <a:rPr lang="en-US" sz="12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Shadow DOM</a:t>
            </a: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Selenium 4 supports </a:t>
            </a:r>
            <a:r>
              <a:rPr lang="en-US" sz="125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expand_shadow_element()</a:t>
            </a: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to pierce Shadow DOM boundaries.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33360" y="556716"/>
            <a:ext cx="6296860" cy="196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b="1" kern="0" spc="-2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Selenium 4 Modernisation</a:t>
            </a:r>
            <a:endParaRPr lang="en-US" sz="1150" dirty="0"/>
          </a:p>
        </p:txBody>
      </p:sp>
      <p:sp>
        <p:nvSpPr>
          <p:cNvPr id="4" name="Text 1"/>
          <p:cNvSpPr/>
          <p:nvPr/>
        </p:nvSpPr>
        <p:spPr>
          <a:xfrm>
            <a:off x="5233360" y="784126"/>
            <a:ext cx="6296860" cy="393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350" b="1" kern="0" spc="-48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What's New in Selenium 4</a:t>
            </a:r>
            <a:endParaRPr lang="en-US" sz="2350" dirty="0"/>
          </a:p>
        </p:txBody>
      </p:sp>
      <p:sp>
        <p:nvSpPr>
          <p:cNvPr id="5" name="Shape 2"/>
          <p:cNvSpPr/>
          <p:nvPr/>
        </p:nvSpPr>
        <p:spPr>
          <a:xfrm>
            <a:off x="5233360" y="1293118"/>
            <a:ext cx="6296860" cy="1207790"/>
          </a:xfrm>
          <a:prstGeom prst="roundRect">
            <a:avLst>
              <a:gd name="adj" fmla="val 4206"/>
            </a:avLst>
          </a:prstGeom>
          <a:solidFill>
            <a:srgbClr val="101620"/>
          </a:solidFill>
          <a:ln w="12700">
            <a:solidFill>
              <a:srgbClr val="002A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3"/>
          <p:cNvSpPr/>
          <p:nvPr/>
        </p:nvSpPr>
        <p:spPr>
          <a:xfrm>
            <a:off x="5366906" y="1426666"/>
            <a:ext cx="362735" cy="362744"/>
          </a:xfrm>
          <a:prstGeom prst="ellipse">
            <a:avLst/>
          </a:prstGeom>
          <a:solidFill>
            <a:srgbClr val="487CFF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6618" y="1526381"/>
            <a:ext cx="163211" cy="16321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66906" y="1866702"/>
            <a:ext cx="6029769" cy="196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b="1" kern="0" spc="-24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Full W3C Standard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5366906" y="2109589"/>
            <a:ext cx="6029769" cy="2577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All communication is now pure W3C WebDriver — no legacy JSON Wire Protocol. Better cross-browser consistency.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5233360" y="2578199"/>
            <a:ext cx="6296860" cy="1207790"/>
          </a:xfrm>
          <a:prstGeom prst="roundRect">
            <a:avLst>
              <a:gd name="adj" fmla="val 4206"/>
            </a:avLst>
          </a:prstGeom>
          <a:solidFill>
            <a:srgbClr val="101620"/>
          </a:solidFill>
          <a:ln w="12700">
            <a:solidFill>
              <a:srgbClr val="002A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5366906" y="2711748"/>
            <a:ext cx="362735" cy="362744"/>
          </a:xfrm>
          <a:prstGeom prst="ellipse">
            <a:avLst/>
          </a:prstGeom>
          <a:solidFill>
            <a:srgbClr val="487CFF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66618" y="2811463"/>
            <a:ext cx="163211" cy="16321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366906" y="3151783"/>
            <a:ext cx="6029769" cy="196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b="1" kern="0" spc="-24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Selenium Manager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5366906" y="3394670"/>
            <a:ext cx="6029769" cy="2577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Zero-config driver management. Bundled with Selenium; automatically locates and downloads the right driver binary.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5233360" y="3863280"/>
            <a:ext cx="6296860" cy="1085255"/>
          </a:xfrm>
          <a:prstGeom prst="roundRect">
            <a:avLst>
              <a:gd name="adj" fmla="val 4681"/>
            </a:avLst>
          </a:prstGeom>
          <a:solidFill>
            <a:srgbClr val="101620"/>
          </a:solidFill>
          <a:ln w="12700">
            <a:solidFill>
              <a:srgbClr val="002A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1"/>
          <p:cNvSpPr/>
          <p:nvPr/>
        </p:nvSpPr>
        <p:spPr>
          <a:xfrm>
            <a:off x="5366906" y="3996829"/>
            <a:ext cx="362735" cy="362744"/>
          </a:xfrm>
          <a:prstGeom prst="ellipse">
            <a:avLst/>
          </a:prstGeom>
          <a:solidFill>
            <a:srgbClr val="487CFF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66618" y="4096544"/>
            <a:ext cx="163211" cy="16321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66906" y="4436864"/>
            <a:ext cx="6029769" cy="196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b="1" kern="0" spc="-24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Relative Locators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5366906" y="4679752"/>
            <a:ext cx="6029769" cy="135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Find elements </a:t>
            </a:r>
            <a:r>
              <a:rPr lang="en-US" sz="950" i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relative</a:t>
            </a: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to others: </a:t>
            </a:r>
            <a:r>
              <a:rPr lang="en-US" sz="95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above()</a:t>
            </a: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</a:t>
            </a:r>
            <a:r>
              <a:rPr lang="en-US" sz="95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below()</a:t>
            </a: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</a:t>
            </a:r>
            <a:r>
              <a:rPr lang="en-US" sz="95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near()</a:t>
            </a: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</a:t>
            </a:r>
            <a:r>
              <a:rPr lang="en-US" sz="95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to_left_of()</a:t>
            </a: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</a:t>
            </a:r>
            <a:r>
              <a:rPr lang="en-US" sz="95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to_right_of()</a:t>
            </a: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5233360" y="5025827"/>
            <a:ext cx="6296860" cy="1085255"/>
          </a:xfrm>
          <a:prstGeom prst="roundRect">
            <a:avLst>
              <a:gd name="adj" fmla="val 4681"/>
            </a:avLst>
          </a:prstGeom>
          <a:solidFill>
            <a:srgbClr val="101620"/>
          </a:solidFill>
          <a:ln w="12700">
            <a:solidFill>
              <a:srgbClr val="002A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5"/>
          <p:cNvSpPr/>
          <p:nvPr/>
        </p:nvSpPr>
        <p:spPr>
          <a:xfrm>
            <a:off x="5366906" y="5159375"/>
            <a:ext cx="362735" cy="362744"/>
          </a:xfrm>
          <a:prstGeom prst="ellipse">
            <a:avLst/>
          </a:prstGeom>
          <a:solidFill>
            <a:srgbClr val="487CFF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66618" y="5259090"/>
            <a:ext cx="163211" cy="16321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366906" y="5599410"/>
            <a:ext cx="6029769" cy="196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b="1" kern="0" spc="-24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New Window / Tab APIs</a:t>
            </a:r>
            <a:endParaRPr lang="en-US" sz="1150" dirty="0"/>
          </a:p>
        </p:txBody>
      </p:sp>
      <p:sp>
        <p:nvSpPr>
          <p:cNvPr id="24" name="Text 17"/>
          <p:cNvSpPr/>
          <p:nvPr/>
        </p:nvSpPr>
        <p:spPr>
          <a:xfrm>
            <a:off x="5366906" y="5842298"/>
            <a:ext cx="6029769" cy="135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95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driver.switch_to.new_window('tab')</a:t>
            </a: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and </a:t>
            </a:r>
            <a:r>
              <a:rPr lang="en-US" sz="950" dirty="0">
                <a:solidFill>
                  <a:srgbClr val="EBEDF0"/>
                </a:solidFill>
                <a:highlight>
                  <a:srgbClr val="1D232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'window'</a:t>
            </a: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clean programmatic control without JS hacks.</a:t>
            </a:r>
            <a:endParaRPr lang="en-US" sz="950" dirty="0"/>
          </a:p>
        </p:txBody>
      </p:sp>
      <p:sp>
        <p:nvSpPr>
          <p:cNvPr id="25" name="Text 18"/>
          <p:cNvSpPr/>
          <p:nvPr/>
        </p:nvSpPr>
        <p:spPr>
          <a:xfrm>
            <a:off x="5233360" y="6198096"/>
            <a:ext cx="6906444" cy="103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Source: selenium.dev/documentation/about/platforms/webdriver/ · selenium.dev/blog/2021/selenium-4-released/</a:t>
            </a:r>
            <a:endParaRPr lang="en-US" sz="75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875072E3-5658-3F52-27C7-460A8E1DAD8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2794" y="0"/>
            <a:ext cx="502462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0960" y="809413"/>
            <a:ext cx="5600060" cy="232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kern="0" spc="-2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Design Pattern &amp; Frameworks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15903" y="1171519"/>
            <a:ext cx="5447660" cy="399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800" b="1" kern="0" spc="-48" dirty="0">
                <a:solidFill>
                  <a:srgbClr val="F2F5FA"/>
                </a:solidFill>
                <a:latin typeface="Geist Bold"/>
                <a:ea typeface="Geist Bold"/>
                <a:cs typeface="Geist Bold"/>
              </a:rPr>
              <a:t>Page Object Model</a:t>
            </a:r>
            <a:endParaRPr lang="en-US" sz="2800">
              <a:latin typeface="Geist Bold"/>
              <a:ea typeface="Geist Bold"/>
              <a:cs typeface="Geist Bold"/>
            </a:endParaRPr>
          </a:p>
        </p:txBody>
      </p:sp>
      <p:sp>
        <p:nvSpPr>
          <p:cNvPr id="4" name="Text 2"/>
          <p:cNvSpPr/>
          <p:nvPr/>
        </p:nvSpPr>
        <p:spPr>
          <a:xfrm>
            <a:off x="661475" y="2521418"/>
            <a:ext cx="5284556" cy="199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kern="0" spc="-2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The Problem Without POM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61475" y="2800818"/>
            <a:ext cx="5284556" cy="263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When locators are scattered across dozens of test files, a single UI change breaks every file. Maintenance becomes unmanageable.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61475" y="3666429"/>
            <a:ext cx="5284556" cy="199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kern="0" spc="-2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POM Solution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61475" y="3945829"/>
            <a:ext cx="5284556" cy="263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Encapsulate </a:t>
            </a:r>
            <a:r>
              <a:rPr lang="en-US" sz="9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page structure and actions</a:t>
            </a: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in a dedicated class. Tests call page methods — they never know the raw locator. Assertions live in tests, not page objects.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61475" y="4832350"/>
            <a:ext cx="5284556" cy="468313"/>
          </a:xfrm>
          <a:prstGeom prst="roundRect">
            <a:avLst>
              <a:gd name="adj" fmla="val 11019"/>
            </a:avLst>
          </a:prstGeom>
          <a:solidFill>
            <a:srgbClr val="002A80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305" y="4942780"/>
            <a:ext cx="153488" cy="12283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60622" y="4934843"/>
            <a:ext cx="4762579" cy="263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POM is an </a:t>
            </a:r>
            <a:r>
              <a:rPr lang="en-US" sz="950" b="1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architecture pattern</a:t>
            </a:r>
            <a:r>
              <a:rPr lang="en-US" sz="9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not a Selenium feature. Apply it in any language/framework.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252014" y="1606153"/>
            <a:ext cx="5284556" cy="4174728"/>
          </a:xfrm>
          <a:prstGeom prst="roundRect">
            <a:avLst>
              <a:gd name="adj" fmla="val 1236"/>
            </a:avLst>
          </a:prstGeom>
          <a:solidFill>
            <a:srgbClr val="1D232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6399350" y="1728986"/>
            <a:ext cx="4989884" cy="3929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page_objects/login_page.py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selenium.webdriver.common.by import By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LoginPage: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driver):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self.driver = driver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self._username = (By.ID, "username")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self._password = (By.ID, "password")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self._login_btn = (By.CSS_SELECTOR, "button[type='submit']")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login(self, user, pwd):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self.driver.find_element(*self._username).send_keys(user)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self.driver.find_element(*self._password).send_keys(pwd)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self.driver.find_element(*self._login_btn).click()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test_login.py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test_valid_login(driver):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page = LoginPage(driver)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page.login("admin", "secret")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"Dashboard" in driver.title  # assertion in test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61475" y="5960467"/>
            <a:ext cx="11478330" cy="131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Common test frameworks that complement Selenium: </a:t>
            </a:r>
            <a:r>
              <a:rPr lang="en-US" sz="9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pytest</a:t>
            </a: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(Python), </a:t>
            </a:r>
            <a:r>
              <a:rPr lang="en-US" sz="9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JUnit / TestNG</a:t>
            </a: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(Java), </a:t>
            </a:r>
            <a:r>
              <a:rPr lang="en-US" sz="9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Mocha</a:t>
            </a: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(JavaScript).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1238"/>
            <a:ext cx="10868745" cy="211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b="1" kern="0" spc="-26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Infrastructure &amp; DevOps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61475" y="788690"/>
            <a:ext cx="10868745" cy="423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550" b="1" kern="0" spc="-5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Selenium Grid 4 &amp; CI/CD Integration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661475" y="1983383"/>
            <a:ext cx="3597483" cy="211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b="1" kern="0" spc="-26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Grid 4 Architecture</a:t>
            </a:r>
            <a:endParaRPr lang="en-US" sz="12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295922"/>
            <a:ext cx="2518208" cy="33726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82998" y="1436191"/>
            <a:ext cx="6953473" cy="211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b="1" kern="0" spc="-26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CI/CD Pipeline Flow</a:t>
            </a:r>
            <a:endParaRPr lang="en-US" sz="12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6058" y="1748730"/>
            <a:ext cx="4867352" cy="296902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743308" y="2323261"/>
            <a:ext cx="1109262" cy="153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900" b="1" kern="0" spc="-19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Code Push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6520277" y="3645412"/>
            <a:ext cx="1109262" cy="153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900" b="1" kern="0" spc="-19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CI Runner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7465527" y="2464867"/>
            <a:ext cx="1145299" cy="153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900" b="1" kern="0" spc="-19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Build &amp; Deploy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8234450" y="3989453"/>
            <a:ext cx="1109263" cy="153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900" b="1" kern="0" spc="-19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UI Tests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9219019" y="2774102"/>
            <a:ext cx="1109263" cy="153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900" b="1" kern="0" spc="-19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Pass/Fail Gate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4582998" y="4818658"/>
            <a:ext cx="6953473" cy="211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b="1" kern="0" spc="-26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Selenium vs JMeter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4582998" y="5131197"/>
            <a:ext cx="6953473" cy="1084659"/>
          </a:xfrm>
          <a:prstGeom prst="roundRect">
            <a:avLst>
              <a:gd name="adj" fmla="val 5043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4582998" y="5403949"/>
            <a:ext cx="6953473" cy="8141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Shape 12"/>
          <p:cNvSpPr/>
          <p:nvPr/>
        </p:nvSpPr>
        <p:spPr>
          <a:xfrm>
            <a:off x="4582998" y="5673527"/>
            <a:ext cx="6953473" cy="8141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Shape 13"/>
          <p:cNvSpPr/>
          <p:nvPr/>
        </p:nvSpPr>
        <p:spPr>
          <a:xfrm>
            <a:off x="4582998" y="5943104"/>
            <a:ext cx="6953473" cy="8141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4"/>
          <p:cNvSpPr/>
          <p:nvPr/>
        </p:nvSpPr>
        <p:spPr>
          <a:xfrm>
            <a:off x="4719519" y="5197673"/>
            <a:ext cx="3819628" cy="142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10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Selenium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8189906" y="5197673"/>
            <a:ext cx="3819628" cy="142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10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JMeter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4719519" y="5467251"/>
            <a:ext cx="3819628" cy="142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UI / browser behaviour validation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8189906" y="5467251"/>
            <a:ext cx="3819628" cy="142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Performance &amp; load testing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4719519" y="5736828"/>
            <a:ext cx="3819628" cy="142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Real browser rendering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8189906" y="5736828"/>
            <a:ext cx="3819628" cy="142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Protocol-level HTTP simulation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4719519" y="6006405"/>
            <a:ext cx="3819628" cy="142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Functional correctness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8189906" y="6006405"/>
            <a:ext cx="3819628" cy="142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1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Throughput, latency, scalability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21</cp:revision>
  <dcterms:created xsi:type="dcterms:W3CDTF">2026-08-13T06:42:57Z</dcterms:created>
  <dcterms:modified xsi:type="dcterms:W3CDTF">2026-08-13T07:42:42Z</dcterms:modified>
</cp:coreProperties>
</file>