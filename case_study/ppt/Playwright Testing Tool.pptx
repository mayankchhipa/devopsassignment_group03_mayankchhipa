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5276" y="2110829"/>
            <a:ext cx="11581447" cy="1676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6600"/>
              </a:lnSpc>
            </a:pPr>
            <a:r>
              <a:rPr sz="6000" b="0" i="0" u="none">
                <a:solidFill>
                  <a:srgbClr val="F8FAFC"/>
                </a:solidFill>
                <a:latin typeface="Poppins SemiBold"/>
              </a:rPr>
              <a:t>Modern Web Testing with </a:t>
            </a:r>
            <a:r>
              <a:rPr sz="6000" b="0" i="0" u="none">
                <a:solidFill>
                  <a:srgbClr val="22C55E"/>
                </a:solidFill>
                <a:latin typeface="Poppins SemiBold"/>
              </a:rPr>
              <a:t>Playwright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4015829"/>
            <a:ext cx="762000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0" i="0" u="none">
                <a:solidFill>
                  <a:srgbClr val="94A3B8"/>
                </a:solidFill>
                <a:latin typeface="Inter"/>
              </a:rPr>
              <a:t>Fast, reliable, and capable automation framework for the complex architecture of modern web applications.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1866900"/>
            <a:ext cx="5229225" cy="4191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2025" y="2057400"/>
            <a:ext cx="484822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An open-source test automation framework backed by Microsoft, engineered for the modern web.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2025" y="2933700"/>
            <a:ext cx="484822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Extensive cross-language support natively including JavaScript, TypeScript, Python, Java, and .NET.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025" y="3810000"/>
            <a:ext cx="484822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Provides flawless cross-browser testing across Chromium, Firefox, and WebKit rendering engines.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4686300"/>
            <a:ext cx="484822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Operates out-of-process via WebSocket protocols, entirely avoiding the limitations of traditional Selenium drivers.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275" y="1876425"/>
            <a:ext cx="5210175" cy="381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1025" y="581025"/>
            <a:ext cx="11581447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 i="0" u="none">
                <a:solidFill>
                  <a:srgbClr val="F8FAFC"/>
                </a:solidFill>
                <a:latin typeface="Poppins SemiBold"/>
              </a:rPr>
              <a:t>What is </a:t>
            </a:r>
            <a:r>
              <a:rPr sz="3600" b="0" i="0" u="none">
                <a:solidFill>
                  <a:srgbClr val="22C55E"/>
                </a:solidFill>
                <a:latin typeface="Poppins SemiBold"/>
              </a:rPr>
              <a:t>Playwright</a:t>
            </a:r>
            <a:r>
              <a:rPr sz="3600" b="0" i="0" u="none">
                <a:solidFill>
                  <a:srgbClr val="F8FAFC"/>
                </a:solidFill>
                <a:latin typeface="Poppins SemiBold"/>
              </a:rPr>
              <a:t>?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2095500"/>
            <a:ext cx="228600" cy="2476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2971800"/>
            <a:ext cx="228600" cy="2476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3848100"/>
            <a:ext cx="228600" cy="2476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724400"/>
            <a:ext cx="228600" cy="2476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D06DB4B-5041-602D-80E1-37E2A13DAA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89522" y="481813"/>
            <a:ext cx="6272949" cy="635099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743075"/>
            <a:ext cx="3486150" cy="45339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2925" y="1743075"/>
            <a:ext cx="3486150" cy="45339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4825" y="1743075"/>
            <a:ext cx="3486150" cy="4533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95350" y="2924175"/>
            <a:ext cx="1830228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F8FAFC"/>
                </a:solidFill>
                <a:latin typeface="Poppins SemiBold"/>
              </a:rPr>
              <a:t>Auto-Waiting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5350" y="3448050"/>
            <a:ext cx="28575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Playwright automatically waits for elements to be fully actionable before performing interactions, fundamentally eliminating flaky tests and arbitrary timeouts.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7250" y="2924175"/>
            <a:ext cx="2360295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F8FAFC"/>
                </a:solidFill>
                <a:latin typeface="Poppins SemiBold"/>
              </a:rPr>
              <a:t>Browser Contexts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7250" y="3448050"/>
            <a:ext cx="28575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Create isolated, incognito-like sessions in milliseconds. Run multiple independent testing scenarios simultaneously without the massive overhead of new browser instances.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39150" y="2924175"/>
            <a:ext cx="2380297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F8FAFC"/>
                </a:solidFill>
                <a:latin typeface="Poppins SemiBold"/>
              </a:rPr>
              <a:t>Parallel Execution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39150" y="3448050"/>
            <a:ext cx="28575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Drastically reduce your CI/CD pipeline completion times. Playwright runs your extensive test suites concurrently out-of-the-box leveraging all available CPU cores.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5350" y="2181225"/>
            <a:ext cx="400050" cy="4572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7250" y="2181225"/>
            <a:ext cx="514350" cy="4572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39150" y="2181225"/>
            <a:ext cx="400050" cy="4572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81025" y="581025"/>
            <a:ext cx="11581447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 i="0" u="none">
                <a:solidFill>
                  <a:srgbClr val="F8FAFC"/>
                </a:solidFill>
                <a:latin typeface="Poppins SemiBold"/>
              </a:rPr>
              <a:t>Core </a:t>
            </a:r>
            <a:r>
              <a:rPr sz="3600" b="0" i="0" u="none">
                <a:solidFill>
                  <a:srgbClr val="38BDF8"/>
                </a:solidFill>
                <a:latin typeface="Poppins SemiBold"/>
              </a:rPr>
              <a:t>Advantages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647825"/>
            <a:ext cx="11029950" cy="480060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0550" y="1657350"/>
          <a:ext cx="11010898" cy="4781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02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706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5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049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56310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94A3B8"/>
                          </a:solidFill>
                          <a:latin typeface="Poppins SemiBold"/>
                        </a:rPr>
                        <a:t>Feature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22C55E"/>
                          </a:solidFill>
                          <a:latin typeface="Poppins SemiBold"/>
                        </a:rPr>
                        <a:t>Playwright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F8FAFC"/>
                          </a:solidFill>
                          <a:latin typeface="Poppins SemiBold"/>
                        </a:rPr>
                        <a:t>Cypress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F8FAFC"/>
                          </a:solidFill>
                          <a:latin typeface="Poppins SemiBold"/>
                        </a:rPr>
                        <a:t>Selenium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6310"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F8FAFC"/>
                          </a:solidFill>
                          <a:latin typeface="Inter SemiBold"/>
                        </a:rPr>
                        <a:t>Execution Speed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22C55E"/>
                          </a:solidFill>
                          <a:latin typeface="Inter"/>
                        </a:rPr>
                        <a:t>Extremely Fast</a:t>
                      </a:r>
                    </a:p>
                  </a:txBody>
                  <a:tcPr marL="3810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CBD5E1"/>
                          </a:solidFill>
                          <a:latin typeface="Inter"/>
                        </a:rPr>
                        <a:t>Moderate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CBD5E1"/>
                          </a:solidFill>
                          <a:latin typeface="Inter"/>
                        </a:rPr>
                        <a:t>Slower (Driver Overhead)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6310"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F8FAFC"/>
                          </a:solidFill>
                          <a:latin typeface="Inter SemiBold"/>
                        </a:rPr>
                        <a:t>Language Support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CBD5E1"/>
                          </a:solidFill>
                          <a:latin typeface="Inter"/>
                        </a:rPr>
                        <a:t>JS/TS, Python, Java, C#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CBD5E1"/>
                          </a:solidFill>
                          <a:latin typeface="Inter"/>
                        </a:rPr>
                        <a:t>JavaScript / TypeScript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CBD5E1"/>
                          </a:solidFill>
                          <a:latin typeface="Inter"/>
                        </a:rPr>
                        <a:t>Multiple Languages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6310"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F8FAFC"/>
                          </a:solidFill>
                          <a:latin typeface="Inter SemiBold"/>
                        </a:rPr>
                        <a:t>Multi-Tab &amp; iFrames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22C55E"/>
                          </a:solidFill>
                          <a:latin typeface="Inter"/>
                        </a:rPr>
                        <a:t>Seamless Native Support</a:t>
                      </a:r>
                    </a:p>
                  </a:txBody>
                  <a:tcPr marL="3810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CBD5E1"/>
                          </a:solidFill>
                          <a:latin typeface="Inter"/>
                        </a:rPr>
                        <a:t>Limited / Complex Setup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CBD5E1"/>
                          </a:solidFill>
                          <a:latin typeface="Inter"/>
                        </a:rPr>
                        <a:t>Supported natively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56310"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F8FAFC"/>
                          </a:solidFill>
                          <a:latin typeface="Inter SemiBold"/>
                        </a:rPr>
                        <a:t>Network Interception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22C55E"/>
                          </a:solidFill>
                          <a:latin typeface="Inter"/>
                        </a:rPr>
                        <a:t>Native &amp; Powerful</a:t>
                      </a:r>
                    </a:p>
                  </a:txBody>
                  <a:tcPr marL="3810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CBD5E1"/>
                          </a:solidFill>
                          <a:latin typeface="Inter"/>
                        </a:rPr>
                        <a:t>Supported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CBD5E1"/>
                          </a:solidFill>
                          <a:latin typeface="Inter"/>
                        </a:rPr>
                        <a:t>Requires External Proxies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90550" y="2419350"/>
            <a:ext cx="2430214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020764" y="2419350"/>
            <a:ext cx="3070621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1386" y="2419350"/>
            <a:ext cx="270510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796486" y="2419350"/>
            <a:ext cx="2804963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0550" y="3509962"/>
            <a:ext cx="2430214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020764" y="3509962"/>
            <a:ext cx="307062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091386" y="3509962"/>
            <a:ext cx="27051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796486" y="3509962"/>
            <a:ext cx="280496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90550" y="4281487"/>
            <a:ext cx="2430214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020764" y="4281487"/>
            <a:ext cx="307062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091386" y="4281487"/>
            <a:ext cx="27051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796486" y="4281487"/>
            <a:ext cx="280496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90550" y="5357812"/>
            <a:ext cx="2430214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020764" y="5357812"/>
            <a:ext cx="307062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091386" y="5357812"/>
            <a:ext cx="27051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796486" y="5357812"/>
            <a:ext cx="280496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6514" y="4581525"/>
            <a:ext cx="171450" cy="1905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6514" y="2886075"/>
            <a:ext cx="171450" cy="1905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6514" y="5810250"/>
            <a:ext cx="171450" cy="1905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6514" y="2886075"/>
            <a:ext cx="171450" cy="1905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6514" y="4581525"/>
            <a:ext cx="171450" cy="1905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6514" y="5810250"/>
            <a:ext cx="171450" cy="1905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81025" y="581025"/>
            <a:ext cx="11581447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 i="0" u="none">
                <a:solidFill>
                  <a:srgbClr val="F8FAFC"/>
                </a:solidFill>
                <a:latin typeface="Poppins SemiBold"/>
              </a:rPr>
              <a:t>Competitive </a:t>
            </a:r>
            <a:r>
              <a:rPr sz="3600" b="0" i="0" u="none">
                <a:solidFill>
                  <a:srgbClr val="22C55E"/>
                </a:solidFill>
                <a:latin typeface="Poppins SemiBold"/>
              </a:rPr>
              <a:t>Comparison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1025" y="581025"/>
            <a:ext cx="5190648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 i="0" u="none">
                <a:solidFill>
                  <a:srgbClr val="F8FAFC"/>
                </a:solidFill>
                <a:latin typeface="Poppins SemiBold"/>
              </a:rPr>
              <a:t>Advanced </a:t>
            </a:r>
            <a:r>
              <a:rPr sz="3600" b="0" i="0" u="none">
                <a:solidFill>
                  <a:srgbClr val="38BDF8"/>
                </a:solidFill>
                <a:latin typeface="Poppins SemiBold"/>
              </a:rPr>
              <a:t>Debugging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9525"/>
            <a:ext cx="608647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1025" y="3394769"/>
            <a:ext cx="5190648" cy="411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0" i="0" u="none">
                <a:solidFill>
                  <a:srgbClr val="F8FAFC"/>
                </a:solidFill>
                <a:latin typeface="Poppins SemiBold"/>
              </a:rPr>
              <a:t>Trace Viewer &amp; Inspector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1025" y="3996630"/>
            <a:ext cx="4943475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Troubleshoot testing failures efficiently. Capture full DOM snapshots, intercept network requests, parse console logs, and record video executions to reliably reconstruct test failures exactly as they occurred.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65596" y="2105917"/>
            <a:ext cx="6460807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0" b="0" i="0" u="none">
                <a:solidFill>
                  <a:srgbClr val="F8FAFC"/>
                </a:solidFill>
                <a:latin typeface="Poppins SemiBold"/>
              </a:rPr>
              <a:t>Ready to </a:t>
            </a:r>
            <a:r>
              <a:rPr sz="6000" b="0" i="0" u="none">
                <a:solidFill>
                  <a:srgbClr val="22C55E"/>
                </a:solidFill>
                <a:latin typeface="Poppins SemiBold"/>
              </a:rPr>
              <a:t>Scale</a:t>
            </a:r>
            <a:r>
              <a:rPr sz="6000" b="0" i="0" u="none">
                <a:solidFill>
                  <a:srgbClr val="F8FAFC"/>
                </a:solidFill>
                <a:latin typeface="Poppins SemiBold"/>
              </a:rPr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81150" y="3477517"/>
            <a:ext cx="9029700" cy="4266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sz="2100" b="0" i="0" u="none">
                <a:solidFill>
                  <a:srgbClr val="94A3B8"/>
                </a:solidFill>
                <a:latin typeface="Inter"/>
              </a:rPr>
              <a:t>Transform your automated continuous testing strategy with Playwright.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48200" y="4475708"/>
            <a:ext cx="2895600" cy="276225"/>
          </a:xfrm>
          <a:prstGeom prst="rect">
            <a:avLst/>
          </a:prstGeom>
          <a:noFill/>
        </p:spPr>
        <p:txBody>
          <a:bodyPr wrap="square" lIns="285750" tIns="0" rIns="0" bIns="0" anchor="t">
            <a:spAutoFit/>
          </a:bodyPr>
          <a:lstStyle/>
          <a:p>
            <a:pPr algn="ctr"/>
            <a:r>
              <a:rPr sz="1800" b="0" i="0" u="none" dirty="0">
                <a:solidFill>
                  <a:srgbClr val="22C55E"/>
                </a:solidFill>
                <a:latin typeface="Inter Medium"/>
              </a:rPr>
              <a:t>Questions &amp; Discussion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4494758"/>
            <a:ext cx="285750" cy="228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270</Words>
  <Application>Microsoft Office PowerPoint</Application>
  <PresentationFormat>Widescreen</PresentationFormat>
  <Paragraphs>41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Calibri</vt:lpstr>
      <vt:lpstr>Inter</vt:lpstr>
      <vt:lpstr>Inter Medium</vt:lpstr>
      <vt:lpstr>Inter SemiBold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Mohit Garg</cp:lastModifiedBy>
  <cp:revision>3</cp:revision>
  <dcterms:created xsi:type="dcterms:W3CDTF">2013-01-27T09:14:16Z</dcterms:created>
  <dcterms:modified xsi:type="dcterms:W3CDTF">2026-08-22T13:38:51Z</dcterms:modified>
  <cp:category/>
</cp:coreProperties>
</file>